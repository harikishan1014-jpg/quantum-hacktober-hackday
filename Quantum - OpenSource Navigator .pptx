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Shape 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OpenSource Buddy as an AI guide built around the First Contributions documentation. Replace the team and member placeholders with the final names before presenting.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beginners often have to search long instructions spread across several files. That extra effort can make it harder to find a concrete first contribution.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Shape 1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Describe the chatbot as a guide grounded in the project’s actual documentation. Point out that each answer includes the file name so a contributor can check the source.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Shape 1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the four stages from documentation chunks to a cited Gemma response. The retrieved passages give the model evidence to use in its answer.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Share the corpus and retrieval settings used in this build. The threshold is 0.25, with three passages retrieved from roughly 300 chunks across 34 English files.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Highlight the file readers and section-aware chunking added for this project. These changes let the app handle several files while keeping citations tied to their source names.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an unrelated question to show how the app handles missing evidence. The sample refusal is illustrative, so replace it with the app’s exact response if needed.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Report the score from the 15-question test set and name two observed failure cases. Replace all bracketed evaluation placeholders with measured results before presenting.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by restating the goal of helping a beginner find a useful first action. The next build steps are passage re-ranking, conversation memory, and a short onboarding checklist.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</p:spPr>
        <p:txBody>
          <a:bodyPr anchor="ctr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SzTx/>
              <a:buNone/>
              <a:defRPr sz="2100"/>
            </a:lvl1pPr>
            <a:lvl2pPr marL="0" indent="0" algn="ctr">
              <a:spcBef>
                <a:spcPts val="0"/>
              </a:spcBef>
              <a:buSzTx/>
              <a:buNone/>
              <a:defRPr sz="2100"/>
            </a:lvl2pPr>
            <a:lvl3pPr marL="0" indent="0" algn="ctr">
              <a:spcBef>
                <a:spcPts val="0"/>
              </a:spcBef>
              <a:buSzTx/>
              <a:buNone/>
              <a:defRPr sz="2100"/>
            </a:lvl3pPr>
            <a:lvl4pPr marL="0" indent="0" algn="ctr">
              <a:spcBef>
                <a:spcPts val="0"/>
              </a:spcBef>
              <a:buSzTx/>
              <a:buNone/>
              <a:defRPr sz="2100"/>
            </a:lvl4pPr>
            <a:lvl5pPr marL="0" indent="0" algn="ctr">
              <a:spcBef>
                <a:spcPts val="0"/>
              </a:spcBef>
              <a:buSz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</p:spPr>
        <p:txBody>
          <a:bodyPr anchor="ctr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Right column"/>
          <p:cNvSpPr/>
          <p:nvPr>
            <p:ph type="body" sz="half" idx="21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>
              <a:defRPr sz="21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rtl="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3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2286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5334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8382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1430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14478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17526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20574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23622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2667000" marR="0" indent="-2286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2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ver-accent-rule"/>
          <p:cNvSpPr/>
          <p:nvPr/>
        </p:nvSpPr>
        <p:spPr>
          <a:xfrm>
            <a:off x="685800" y="809625"/>
            <a:ext cx="685800" cy="47625"/>
          </a:xfrm>
          <a:prstGeom prst="rect">
            <a:avLst/>
          </a:prstGeom>
          <a:solidFill>
            <a:srgbClr val="69D2E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cover-event"/>
          <p:cNvSpPr txBox="1"/>
          <p:nvPr/>
        </p:nvSpPr>
        <p:spPr>
          <a:xfrm>
            <a:off x="685800" y="1026586"/>
            <a:ext cx="6858000" cy="34712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·  THEME 2B</a:t>
            </a:r>
          </a:p>
        </p:txBody>
      </p:sp>
      <p:sp>
        <p:nvSpPr>
          <p:cNvPr id="67" name="cover-title"/>
          <p:cNvSpPr txBox="1"/>
          <p:nvPr/>
        </p:nvSpPr>
        <p:spPr>
          <a:xfrm>
            <a:off x="662263" y="1761242"/>
            <a:ext cx="10191751" cy="8930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8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OpenSource Buddy</a:t>
            </a:r>
          </a:p>
        </p:txBody>
      </p:sp>
      <p:sp>
        <p:nvSpPr>
          <p:cNvPr id="68" name="cover-subtitle"/>
          <p:cNvSpPr txBox="1"/>
          <p:nvPr/>
        </p:nvSpPr>
        <p:spPr>
          <a:xfrm>
            <a:off x="723900" y="3041804"/>
            <a:ext cx="7620000" cy="335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An AI contribution guide for beginners</a:t>
            </a:r>
          </a:p>
        </p:txBody>
      </p:sp>
      <p:sp>
        <p:nvSpPr>
          <p:cNvPr id="69" name="cover-team"/>
          <p:cNvSpPr txBox="1"/>
          <p:nvPr/>
        </p:nvSpPr>
        <p:spPr>
          <a:xfrm>
            <a:off x="723900" y="4966024"/>
            <a:ext cx="4953000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Team: </a:t>
            </a:r>
            <a:r>
              <a:rPr sz="1900"/>
              <a:t>Quantum</a:t>
            </a:r>
          </a:p>
        </p:txBody>
      </p:sp>
      <p:sp>
        <p:nvSpPr>
          <p:cNvPr id="70" name="cover-members"/>
          <p:cNvSpPr txBox="1"/>
          <p:nvPr/>
        </p:nvSpPr>
        <p:spPr>
          <a:xfrm>
            <a:off x="723900" y="5244947"/>
            <a:ext cx="5715000" cy="50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Members: Hari Kishan Sharma , Ujjwal Kumar Gupta ,    Saurabh Kumar , Bhupendra Saini</a:t>
            </a:r>
          </a:p>
        </p:txBody>
      </p:sp>
      <p:sp>
        <p:nvSpPr>
          <p:cNvPr id="71" name="cover-source"/>
          <p:cNvSpPr txBox="1"/>
          <p:nvPr/>
        </p:nvSpPr>
        <p:spPr>
          <a:xfrm>
            <a:off x="723900" y="5976429"/>
            <a:ext cx="723900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Built on First Contributions GitHub documentation</a:t>
            </a:r>
          </a:p>
        </p:txBody>
      </p:sp>
      <p:pic>
        <p:nvPicPr>
          <p:cNvPr id="72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42934" y="244542"/>
            <a:ext cx="3758049" cy="19729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E6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yebrow-2"/>
          <p:cNvSpPr txBox="1"/>
          <p:nvPr/>
        </p:nvSpPr>
        <p:spPr>
          <a:xfrm>
            <a:off x="685800" y="483222"/>
            <a:ext cx="4000500" cy="18608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   /   HACKDAY SHOWCASE</a:t>
            </a:r>
          </a:p>
        </p:txBody>
      </p:sp>
      <p:sp>
        <p:nvSpPr>
          <p:cNvPr id="77" name="title-2"/>
          <p:cNvSpPr txBox="1"/>
          <p:nvPr/>
        </p:nvSpPr>
        <p:spPr>
          <a:xfrm>
            <a:off x="685800" y="899358"/>
            <a:ext cx="10820400" cy="5825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9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78" name="footer-rule-2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" name="footer-event-2"/>
          <p:cNvSpPr txBox="1"/>
          <p:nvPr/>
        </p:nvSpPr>
        <p:spPr>
          <a:xfrm>
            <a:off x="685800" y="6504057"/>
            <a:ext cx="61912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80" name="footer-number-2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 / 10</a:t>
            </a:r>
          </a:p>
        </p:txBody>
      </p:sp>
      <p:sp>
        <p:nvSpPr>
          <p:cNvPr id="81" name="problem-lead"/>
          <p:cNvSpPr txBox="1"/>
          <p:nvPr/>
        </p:nvSpPr>
        <p:spPr>
          <a:xfrm>
            <a:off x="685800" y="1900448"/>
            <a:ext cx="10001250" cy="40915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 first contribution can start with a documentation hunt.</a:t>
            </a:r>
          </a:p>
        </p:txBody>
      </p:sp>
      <p:sp>
        <p:nvSpPr>
          <p:cNvPr id="82" name="problem-index-1"/>
          <p:cNvSpPr txBox="1"/>
          <p:nvPr/>
        </p:nvSpPr>
        <p:spPr>
          <a:xfrm>
            <a:off x="704850" y="2919552"/>
            <a:ext cx="619125" cy="28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83" name="problem-point-1"/>
          <p:cNvSpPr txBox="1"/>
          <p:nvPr/>
        </p:nvSpPr>
        <p:spPr>
          <a:xfrm>
            <a:off x="1447800" y="2904274"/>
            <a:ext cx="9620250" cy="335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Long guides bury the first action</a:t>
            </a:r>
          </a:p>
        </p:txBody>
      </p:sp>
      <p:sp>
        <p:nvSpPr>
          <p:cNvPr id="84" name="problem-separator-1"/>
          <p:cNvSpPr/>
          <p:nvPr/>
        </p:nvSpPr>
        <p:spPr>
          <a:xfrm>
            <a:off x="1447800" y="3417887"/>
            <a:ext cx="9048750" cy="12701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5" name="problem-index-2"/>
          <p:cNvSpPr txBox="1"/>
          <p:nvPr/>
        </p:nvSpPr>
        <p:spPr>
          <a:xfrm>
            <a:off x="704850" y="3786327"/>
            <a:ext cx="619125" cy="28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6" name="problem-point-2"/>
          <p:cNvSpPr txBox="1"/>
          <p:nvPr/>
        </p:nvSpPr>
        <p:spPr>
          <a:xfrm>
            <a:off x="1447800" y="3764876"/>
            <a:ext cx="9620250" cy="347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Instructions sit across multiple files</a:t>
            </a:r>
          </a:p>
        </p:txBody>
      </p:sp>
      <p:sp>
        <p:nvSpPr>
          <p:cNvPr id="87" name="problem-separator-2"/>
          <p:cNvSpPr/>
          <p:nvPr/>
        </p:nvSpPr>
        <p:spPr>
          <a:xfrm>
            <a:off x="1447800" y="4284662"/>
            <a:ext cx="9048750" cy="12701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8" name="problem-index-3"/>
          <p:cNvSpPr txBox="1"/>
          <p:nvPr/>
        </p:nvSpPr>
        <p:spPr>
          <a:xfrm>
            <a:off x="704850" y="4653102"/>
            <a:ext cx="619125" cy="28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9" name="problem-point-3"/>
          <p:cNvSpPr txBox="1"/>
          <p:nvPr/>
        </p:nvSpPr>
        <p:spPr>
          <a:xfrm>
            <a:off x="1447800" y="4631651"/>
            <a:ext cx="9620250" cy="347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Beginners can lose the thread before a first pull request</a:t>
            </a:r>
          </a:p>
        </p:txBody>
      </p:sp>
      <p:pic>
        <p:nvPicPr>
          <p:cNvPr id="90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eyebrow-3"/>
          <p:cNvSpPr txBox="1"/>
          <p:nvPr/>
        </p:nvSpPr>
        <p:spPr>
          <a:xfrm>
            <a:off x="685800" y="477057"/>
            <a:ext cx="400050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03   /   HACKDAY SHOWCASE</a:t>
            </a:r>
          </a:p>
        </p:txBody>
      </p:sp>
      <p:sp>
        <p:nvSpPr>
          <p:cNvPr id="95" name="title-3"/>
          <p:cNvSpPr txBox="1"/>
          <p:nvPr/>
        </p:nvSpPr>
        <p:spPr>
          <a:xfrm>
            <a:off x="685800" y="911690"/>
            <a:ext cx="10820400" cy="55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7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96" name="footer-rule-3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7" name="footer-event-3"/>
          <p:cNvSpPr txBox="1"/>
          <p:nvPr/>
        </p:nvSpPr>
        <p:spPr>
          <a:xfrm>
            <a:off x="685800" y="6479210"/>
            <a:ext cx="619125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98" name="footer-number-3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03 / 10</a:t>
            </a:r>
          </a:p>
        </p:txBody>
      </p:sp>
      <p:sp>
        <p:nvSpPr>
          <p:cNvPr id="99" name="solution-lead-1"/>
          <p:cNvSpPr txBox="1"/>
          <p:nvPr/>
        </p:nvSpPr>
        <p:spPr>
          <a:xfrm>
            <a:off x="723900" y="2005152"/>
            <a:ext cx="1809750" cy="28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ASK</a:t>
            </a:r>
          </a:p>
        </p:txBody>
      </p:sp>
      <p:sp>
        <p:nvSpPr>
          <p:cNvPr id="100" name="solution-desc-1"/>
          <p:cNvSpPr txBox="1"/>
          <p:nvPr/>
        </p:nvSpPr>
        <p:spPr>
          <a:xfrm>
            <a:off x="2590800" y="1983701"/>
            <a:ext cx="8286750" cy="347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 beginner asks in plain language</a:t>
            </a:r>
          </a:p>
        </p:txBody>
      </p:sp>
      <p:sp>
        <p:nvSpPr>
          <p:cNvPr id="101" name="solution-lead-2"/>
          <p:cNvSpPr txBox="1"/>
          <p:nvPr/>
        </p:nvSpPr>
        <p:spPr>
          <a:xfrm>
            <a:off x="723900" y="2824302"/>
            <a:ext cx="1809750" cy="28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RETRIEVE</a:t>
            </a:r>
          </a:p>
        </p:txBody>
      </p:sp>
      <p:sp>
        <p:nvSpPr>
          <p:cNvPr id="102" name="solution-desc-2"/>
          <p:cNvSpPr txBox="1"/>
          <p:nvPr/>
        </p:nvSpPr>
        <p:spPr>
          <a:xfrm>
            <a:off x="2590800" y="2802851"/>
            <a:ext cx="8286750" cy="347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Buddy finds relevant passages in the real docs</a:t>
            </a:r>
          </a:p>
        </p:txBody>
      </p:sp>
      <p:sp>
        <p:nvSpPr>
          <p:cNvPr id="103" name="solution-lead-3"/>
          <p:cNvSpPr txBox="1"/>
          <p:nvPr/>
        </p:nvSpPr>
        <p:spPr>
          <a:xfrm>
            <a:off x="723900" y="3643452"/>
            <a:ext cx="1809750" cy="285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CITE</a:t>
            </a:r>
          </a:p>
        </p:txBody>
      </p:sp>
      <p:sp>
        <p:nvSpPr>
          <p:cNvPr id="104" name="solution-desc-3"/>
          <p:cNvSpPr txBox="1"/>
          <p:nvPr/>
        </p:nvSpPr>
        <p:spPr>
          <a:xfrm>
            <a:off x="2590800" y="3622001"/>
            <a:ext cx="8286750" cy="347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answer names the source file</a:t>
            </a:r>
          </a:p>
        </p:txBody>
      </p:sp>
      <p:sp>
        <p:nvSpPr>
          <p:cNvPr id="105" name="solution-stack-rule"/>
          <p:cNvSpPr/>
          <p:nvPr/>
        </p:nvSpPr>
        <p:spPr>
          <a:xfrm>
            <a:off x="723900" y="4665662"/>
            <a:ext cx="10744200" cy="12701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6" name="solution-stack"/>
          <p:cNvSpPr txBox="1"/>
          <p:nvPr/>
        </p:nvSpPr>
        <p:spPr>
          <a:xfrm>
            <a:off x="723900" y="5048097"/>
            <a:ext cx="10668000" cy="247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Built with Google Colab, Gemma 4 via Google AI Studio API, all-MiniLM-L6-v2 embeddings, and Gradio.</a:t>
            </a:r>
          </a:p>
        </p:txBody>
      </p:sp>
      <p:sp>
        <p:nvSpPr>
          <p:cNvPr id="107" name="solution-model-id"/>
          <p:cNvSpPr txBox="1"/>
          <p:nvPr/>
        </p:nvSpPr>
        <p:spPr>
          <a:xfrm>
            <a:off x="723900" y="5540147"/>
            <a:ext cx="590550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Model: gemma-4-26b-a4b-it</a:t>
            </a:r>
          </a:p>
        </p:txBody>
      </p:sp>
      <p:pic>
        <p:nvPicPr>
          <p:cNvPr id="108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E6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eyebrow-4"/>
          <p:cNvSpPr txBox="1"/>
          <p:nvPr/>
        </p:nvSpPr>
        <p:spPr>
          <a:xfrm>
            <a:off x="685800" y="464725"/>
            <a:ext cx="4000500" cy="22307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04   /   HACKDAY SHOWCASE</a:t>
            </a:r>
          </a:p>
        </p:txBody>
      </p:sp>
      <p:sp>
        <p:nvSpPr>
          <p:cNvPr id="113" name="title-4"/>
          <p:cNvSpPr txBox="1"/>
          <p:nvPr/>
        </p:nvSpPr>
        <p:spPr>
          <a:xfrm>
            <a:off x="685799" y="1466859"/>
            <a:ext cx="10820401" cy="5825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9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How retrieval-augmented generation works</a:t>
            </a:r>
          </a:p>
        </p:txBody>
      </p:sp>
      <p:sp>
        <p:nvSpPr>
          <p:cNvPr id="114" name="footer-rule-4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2B3E5D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5" name="footer-event-4"/>
          <p:cNvSpPr txBox="1"/>
          <p:nvPr/>
        </p:nvSpPr>
        <p:spPr>
          <a:xfrm>
            <a:off x="685800" y="6466878"/>
            <a:ext cx="619125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116" name="footer-number-4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B8C7D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04 / 10</a:t>
            </a:r>
          </a:p>
        </p:txBody>
      </p:sp>
      <p:grpSp>
        <p:nvGrpSpPr>
          <p:cNvPr id="119" name="rag-step-circle-1"/>
          <p:cNvGrpSpPr/>
          <p:nvPr/>
        </p:nvGrpSpPr>
        <p:grpSpPr>
          <a:xfrm>
            <a:off x="1657350" y="2628900"/>
            <a:ext cx="647700" cy="647700"/>
            <a:chOff x="0" y="0"/>
            <a:chExt cx="647700" cy="647700"/>
          </a:xfrm>
        </p:grpSpPr>
        <p:sp>
          <p:nvSpPr>
            <p:cNvPr id="117" name="Circle"/>
            <p:cNvSpPr/>
            <p:nvPr/>
          </p:nvSpPr>
          <p:spPr>
            <a:xfrm>
              <a:off x="0" y="0"/>
              <a:ext cx="647700" cy="647700"/>
            </a:xfrm>
            <a:prstGeom prst="ellipse">
              <a:avLst/>
            </a:prstGeom>
            <a:solidFill>
              <a:srgbClr val="142746"/>
            </a:solidFill>
            <a:ln w="19050" cap="flat">
              <a:solidFill>
                <a:srgbClr val="69D2E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118" name="1"/>
            <p:cNvSpPr txBox="1"/>
            <p:nvPr/>
          </p:nvSpPr>
          <p:spPr>
            <a:xfrm>
              <a:off x="104378" y="168783"/>
              <a:ext cx="438944" cy="310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20" name="rag-step-title-1"/>
          <p:cNvSpPr txBox="1"/>
          <p:nvPr/>
        </p:nvSpPr>
        <p:spPr>
          <a:xfrm>
            <a:off x="723900" y="3677343"/>
            <a:ext cx="2514600" cy="3224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Split into chunks</a:t>
            </a:r>
          </a:p>
        </p:txBody>
      </p:sp>
      <p:sp>
        <p:nvSpPr>
          <p:cNvPr id="121" name="rag-step-detail-1"/>
          <p:cNvSpPr txBox="1"/>
          <p:nvPr/>
        </p:nvSpPr>
        <p:spPr>
          <a:xfrm>
            <a:off x="723900" y="4152747"/>
            <a:ext cx="2514600" cy="247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Source documentation</a:t>
            </a:r>
          </a:p>
        </p:txBody>
      </p:sp>
      <p:sp>
        <p:nvSpPr>
          <p:cNvPr id="122" name="rag-arrow-1"/>
          <p:cNvSpPr/>
          <p:nvPr/>
        </p:nvSpPr>
        <p:spPr>
          <a:xfrm>
            <a:off x="2762250" y="2876550"/>
            <a:ext cx="4000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D2E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25" name="rag-step-circle-2"/>
          <p:cNvGrpSpPr/>
          <p:nvPr/>
        </p:nvGrpSpPr>
        <p:grpSpPr>
          <a:xfrm>
            <a:off x="4400550" y="2628900"/>
            <a:ext cx="647700" cy="647700"/>
            <a:chOff x="0" y="0"/>
            <a:chExt cx="647700" cy="647700"/>
          </a:xfrm>
        </p:grpSpPr>
        <p:sp>
          <p:nvSpPr>
            <p:cNvPr id="123" name="Circle"/>
            <p:cNvSpPr/>
            <p:nvPr/>
          </p:nvSpPr>
          <p:spPr>
            <a:xfrm>
              <a:off x="0" y="0"/>
              <a:ext cx="647700" cy="647700"/>
            </a:xfrm>
            <a:prstGeom prst="ellipse">
              <a:avLst/>
            </a:prstGeom>
            <a:solidFill>
              <a:srgbClr val="142746"/>
            </a:solidFill>
            <a:ln w="19050" cap="flat">
              <a:solidFill>
                <a:srgbClr val="69D2E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124" name="2"/>
            <p:cNvSpPr txBox="1"/>
            <p:nvPr/>
          </p:nvSpPr>
          <p:spPr>
            <a:xfrm>
              <a:off x="104378" y="168783"/>
              <a:ext cx="438944" cy="310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26" name="rag-step-title-2"/>
          <p:cNvSpPr txBox="1"/>
          <p:nvPr/>
        </p:nvSpPr>
        <p:spPr>
          <a:xfrm>
            <a:off x="3467100" y="3677343"/>
            <a:ext cx="2514600" cy="3224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Create embeddings</a:t>
            </a:r>
          </a:p>
        </p:txBody>
      </p:sp>
      <p:sp>
        <p:nvSpPr>
          <p:cNvPr id="127" name="rag-step-detail-2"/>
          <p:cNvSpPr txBox="1"/>
          <p:nvPr/>
        </p:nvSpPr>
        <p:spPr>
          <a:xfrm>
            <a:off x="3467100" y="4152747"/>
            <a:ext cx="2514600" cy="247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all-MiniLM-L6-v2</a:t>
            </a:r>
          </a:p>
        </p:txBody>
      </p:sp>
      <p:sp>
        <p:nvSpPr>
          <p:cNvPr id="128" name="rag-arrow-2"/>
          <p:cNvSpPr/>
          <p:nvPr/>
        </p:nvSpPr>
        <p:spPr>
          <a:xfrm>
            <a:off x="5505450" y="2876550"/>
            <a:ext cx="4000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D2E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31" name="rag-step-circle-3"/>
          <p:cNvGrpSpPr/>
          <p:nvPr/>
        </p:nvGrpSpPr>
        <p:grpSpPr>
          <a:xfrm>
            <a:off x="7143750" y="2628900"/>
            <a:ext cx="647700" cy="647700"/>
            <a:chOff x="0" y="0"/>
            <a:chExt cx="647700" cy="647700"/>
          </a:xfrm>
        </p:grpSpPr>
        <p:sp>
          <p:nvSpPr>
            <p:cNvPr id="129" name="Circle"/>
            <p:cNvSpPr/>
            <p:nvPr/>
          </p:nvSpPr>
          <p:spPr>
            <a:xfrm>
              <a:off x="0" y="0"/>
              <a:ext cx="647700" cy="647700"/>
            </a:xfrm>
            <a:prstGeom prst="ellipse">
              <a:avLst/>
            </a:prstGeom>
            <a:solidFill>
              <a:srgbClr val="142746"/>
            </a:solidFill>
            <a:ln w="19050" cap="flat">
              <a:solidFill>
                <a:srgbClr val="69D2E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130" name="3"/>
            <p:cNvSpPr txBox="1"/>
            <p:nvPr/>
          </p:nvSpPr>
          <p:spPr>
            <a:xfrm>
              <a:off x="104378" y="168783"/>
              <a:ext cx="438944" cy="310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32" name="rag-step-title-3"/>
          <p:cNvSpPr txBox="1"/>
          <p:nvPr/>
        </p:nvSpPr>
        <p:spPr>
          <a:xfrm>
            <a:off x="6210300" y="3677343"/>
            <a:ext cx="2514600" cy="3224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Retrieve top-k</a:t>
            </a:r>
          </a:p>
        </p:txBody>
      </p:sp>
      <p:sp>
        <p:nvSpPr>
          <p:cNvPr id="133" name="rag-step-detail-3"/>
          <p:cNvSpPr txBox="1"/>
          <p:nvPr/>
        </p:nvSpPr>
        <p:spPr>
          <a:xfrm>
            <a:off x="6210300" y="4152747"/>
            <a:ext cx="2514600" cy="247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Matching passages</a:t>
            </a:r>
          </a:p>
        </p:txBody>
      </p:sp>
      <p:sp>
        <p:nvSpPr>
          <p:cNvPr id="134" name="rag-arrow-3"/>
          <p:cNvSpPr/>
          <p:nvPr/>
        </p:nvSpPr>
        <p:spPr>
          <a:xfrm>
            <a:off x="8248650" y="2876550"/>
            <a:ext cx="400050" cy="1714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9D2E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37" name="rag-step-circle-4"/>
          <p:cNvGrpSpPr/>
          <p:nvPr/>
        </p:nvGrpSpPr>
        <p:grpSpPr>
          <a:xfrm>
            <a:off x="9886950" y="2628900"/>
            <a:ext cx="647700" cy="647700"/>
            <a:chOff x="0" y="0"/>
            <a:chExt cx="647700" cy="647700"/>
          </a:xfrm>
        </p:grpSpPr>
        <p:sp>
          <p:nvSpPr>
            <p:cNvPr id="135" name="Circle"/>
            <p:cNvSpPr/>
            <p:nvPr/>
          </p:nvSpPr>
          <p:spPr>
            <a:xfrm>
              <a:off x="0" y="0"/>
              <a:ext cx="647700" cy="647700"/>
            </a:xfrm>
            <a:prstGeom prst="ellipse">
              <a:avLst/>
            </a:prstGeom>
            <a:solidFill>
              <a:srgbClr val="142746"/>
            </a:solidFill>
            <a:ln w="19050" cap="flat">
              <a:solidFill>
                <a:srgbClr val="69D2E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136" name="4"/>
            <p:cNvSpPr txBox="1"/>
            <p:nvPr/>
          </p:nvSpPr>
          <p:spPr>
            <a:xfrm>
              <a:off x="104378" y="168783"/>
              <a:ext cx="438944" cy="310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000">
                  <a:solidFill>
                    <a:srgbClr val="69D2E0"/>
                  </a:solidFill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38" name="rag-step-title-4"/>
          <p:cNvSpPr txBox="1"/>
          <p:nvPr/>
        </p:nvSpPr>
        <p:spPr>
          <a:xfrm>
            <a:off x="8953500" y="3677343"/>
            <a:ext cx="2514600" cy="3224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Gemma answers</a:t>
            </a:r>
          </a:p>
        </p:txBody>
      </p:sp>
      <p:sp>
        <p:nvSpPr>
          <p:cNvPr id="139" name="rag-step-detail-4"/>
          <p:cNvSpPr txBox="1"/>
          <p:nvPr/>
        </p:nvSpPr>
        <p:spPr>
          <a:xfrm>
            <a:off x="8953500" y="4152747"/>
            <a:ext cx="2514600" cy="247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With source citations</a:t>
            </a:r>
          </a:p>
        </p:txBody>
      </p:sp>
      <p:sp>
        <p:nvSpPr>
          <p:cNvPr id="140" name="rag-caption"/>
          <p:cNvSpPr txBox="1"/>
          <p:nvPr/>
        </p:nvSpPr>
        <p:spPr>
          <a:xfrm>
            <a:off x="1447800" y="5099430"/>
            <a:ext cx="9296400" cy="297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model answers from retrieved evidence, then points back to the file.</a:t>
            </a:r>
          </a:p>
        </p:txBody>
      </p:sp>
      <p:pic>
        <p:nvPicPr>
          <p:cNvPr id="141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eyebrow-5"/>
          <p:cNvSpPr txBox="1"/>
          <p:nvPr/>
        </p:nvSpPr>
        <p:spPr>
          <a:xfrm>
            <a:off x="685800" y="446043"/>
            <a:ext cx="4000500" cy="260439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05   /   HACKDAY SHOWCASE</a:t>
            </a:r>
          </a:p>
        </p:txBody>
      </p:sp>
      <p:sp>
        <p:nvSpPr>
          <p:cNvPr id="146" name="title-5"/>
          <p:cNvSpPr txBox="1"/>
          <p:nvPr/>
        </p:nvSpPr>
        <p:spPr>
          <a:xfrm>
            <a:off x="685800" y="880676"/>
            <a:ext cx="10820400" cy="61989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1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Pipeline and design choices</a:t>
            </a:r>
          </a:p>
        </p:txBody>
      </p:sp>
      <p:sp>
        <p:nvSpPr>
          <p:cNvPr id="147" name="footer-rule-5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8" name="footer-event-5"/>
          <p:cNvSpPr txBox="1"/>
          <p:nvPr/>
        </p:nvSpPr>
        <p:spPr>
          <a:xfrm>
            <a:off x="685800" y="6454547"/>
            <a:ext cx="6191250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149" name="footer-number-5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05 / 10</a:t>
            </a:r>
          </a:p>
        </p:txBody>
      </p:sp>
      <p:sp>
        <p:nvSpPr>
          <p:cNvPr id="150" name="metric-value-1"/>
          <p:cNvSpPr txBox="1"/>
          <p:nvPr/>
        </p:nvSpPr>
        <p:spPr>
          <a:xfrm>
            <a:off x="781050" y="2191767"/>
            <a:ext cx="2667000" cy="60756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151" name="metric-label-1"/>
          <p:cNvSpPr txBox="1"/>
          <p:nvPr/>
        </p:nvSpPr>
        <p:spPr>
          <a:xfrm>
            <a:off x="800100" y="2864408"/>
            <a:ext cx="27813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English source files</a:t>
            </a:r>
          </a:p>
        </p:txBody>
      </p:sp>
      <p:sp>
        <p:nvSpPr>
          <p:cNvPr id="152" name="metric-value-2"/>
          <p:cNvSpPr txBox="1"/>
          <p:nvPr/>
        </p:nvSpPr>
        <p:spPr>
          <a:xfrm>
            <a:off x="4429125" y="2191767"/>
            <a:ext cx="2667000" cy="60756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300</a:t>
            </a:r>
          </a:p>
        </p:txBody>
      </p:sp>
      <p:sp>
        <p:nvSpPr>
          <p:cNvPr id="153" name="metric-label-2"/>
          <p:cNvSpPr txBox="1"/>
          <p:nvPr/>
        </p:nvSpPr>
        <p:spPr>
          <a:xfrm>
            <a:off x="4448175" y="2864408"/>
            <a:ext cx="27813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indexed chunks</a:t>
            </a:r>
          </a:p>
        </p:txBody>
      </p:sp>
      <p:sp>
        <p:nvSpPr>
          <p:cNvPr id="154" name="metric-value-3"/>
          <p:cNvSpPr txBox="1"/>
          <p:nvPr/>
        </p:nvSpPr>
        <p:spPr>
          <a:xfrm>
            <a:off x="8077200" y="2191767"/>
            <a:ext cx="2667000" cy="60756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120</a:t>
            </a:r>
          </a:p>
        </p:txBody>
      </p:sp>
      <p:sp>
        <p:nvSpPr>
          <p:cNvPr id="155" name="metric-label-3"/>
          <p:cNvSpPr txBox="1"/>
          <p:nvPr/>
        </p:nvSpPr>
        <p:spPr>
          <a:xfrm>
            <a:off x="8096250" y="2864408"/>
            <a:ext cx="27813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words per chunk</a:t>
            </a:r>
          </a:p>
        </p:txBody>
      </p:sp>
      <p:sp>
        <p:nvSpPr>
          <p:cNvPr id="156" name="metric-value-4"/>
          <p:cNvSpPr txBox="1"/>
          <p:nvPr/>
        </p:nvSpPr>
        <p:spPr>
          <a:xfrm>
            <a:off x="781050" y="4077717"/>
            <a:ext cx="2667000" cy="60756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157" name="metric-label-4"/>
          <p:cNvSpPr txBox="1"/>
          <p:nvPr/>
        </p:nvSpPr>
        <p:spPr>
          <a:xfrm>
            <a:off x="800100" y="4750358"/>
            <a:ext cx="27813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words of overlap</a:t>
            </a:r>
          </a:p>
        </p:txBody>
      </p:sp>
      <p:sp>
        <p:nvSpPr>
          <p:cNvPr id="158" name="metric-value-5"/>
          <p:cNvSpPr txBox="1"/>
          <p:nvPr/>
        </p:nvSpPr>
        <p:spPr>
          <a:xfrm>
            <a:off x="4429125" y="4077717"/>
            <a:ext cx="2667000" cy="60756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9" name="metric-label-5"/>
          <p:cNvSpPr txBox="1"/>
          <p:nvPr/>
        </p:nvSpPr>
        <p:spPr>
          <a:xfrm>
            <a:off x="4448175" y="4750358"/>
            <a:ext cx="27813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passages retrieved</a:t>
            </a:r>
          </a:p>
        </p:txBody>
      </p:sp>
      <p:sp>
        <p:nvSpPr>
          <p:cNvPr id="160" name="metric-value-6"/>
          <p:cNvSpPr txBox="1"/>
          <p:nvPr/>
        </p:nvSpPr>
        <p:spPr>
          <a:xfrm>
            <a:off x="8077200" y="4077717"/>
            <a:ext cx="2667000" cy="60756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0.45</a:t>
            </a:r>
          </a:p>
        </p:txBody>
      </p:sp>
      <p:sp>
        <p:nvSpPr>
          <p:cNvPr id="161" name="metric-label-6"/>
          <p:cNvSpPr txBox="1"/>
          <p:nvPr/>
        </p:nvSpPr>
        <p:spPr>
          <a:xfrm>
            <a:off x="8096250" y="4750358"/>
            <a:ext cx="27813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relevance threshold</a:t>
            </a:r>
          </a:p>
        </p:txBody>
      </p:sp>
      <p:sp>
        <p:nvSpPr>
          <p:cNvPr id="162" name="metrics-col-sep-1"/>
          <p:cNvSpPr/>
          <p:nvPr/>
        </p:nvSpPr>
        <p:spPr>
          <a:xfrm>
            <a:off x="4046537" y="2190750"/>
            <a:ext cx="12701" cy="1143000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3" name="metrics-col-sep-2"/>
          <p:cNvSpPr/>
          <p:nvPr/>
        </p:nvSpPr>
        <p:spPr>
          <a:xfrm>
            <a:off x="7694612" y="2190750"/>
            <a:ext cx="12701" cy="1143000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metrics-col-sep-3"/>
          <p:cNvSpPr/>
          <p:nvPr/>
        </p:nvSpPr>
        <p:spPr>
          <a:xfrm>
            <a:off x="4046537" y="4057650"/>
            <a:ext cx="12701" cy="1143000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5" name="metrics-col-sep-4"/>
          <p:cNvSpPr/>
          <p:nvPr/>
        </p:nvSpPr>
        <p:spPr>
          <a:xfrm>
            <a:off x="7694612" y="4057650"/>
            <a:ext cx="12701" cy="1143000"/>
          </a:xfrm>
          <a:prstGeom prst="rect">
            <a:avLst/>
          </a:prstGeom>
          <a:solidFill>
            <a:srgbClr val="D7E0E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66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E6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eyebrow-6"/>
          <p:cNvSpPr txBox="1"/>
          <p:nvPr/>
        </p:nvSpPr>
        <p:spPr>
          <a:xfrm>
            <a:off x="685800" y="464725"/>
            <a:ext cx="4000500" cy="22307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06   /   HACKDAY SHOWCASE</a:t>
            </a:r>
          </a:p>
        </p:txBody>
      </p:sp>
      <p:sp>
        <p:nvSpPr>
          <p:cNvPr id="171" name="title-6"/>
          <p:cNvSpPr txBox="1"/>
          <p:nvPr/>
        </p:nvSpPr>
        <p:spPr>
          <a:xfrm>
            <a:off x="685800" y="899358"/>
            <a:ext cx="10820400" cy="5825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9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What we added</a:t>
            </a:r>
          </a:p>
        </p:txBody>
      </p:sp>
      <p:sp>
        <p:nvSpPr>
          <p:cNvPr id="172" name="footer-rule-6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173" name="footer-event-6"/>
          <p:cNvSpPr txBox="1"/>
          <p:nvPr/>
        </p:nvSpPr>
        <p:spPr>
          <a:xfrm>
            <a:off x="685800" y="6466878"/>
            <a:ext cx="619125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174" name="footer-number-6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06 / 10</a:t>
            </a:r>
          </a:p>
        </p:txBody>
      </p:sp>
      <p:sp>
        <p:nvSpPr>
          <p:cNvPr id="175" name="feature-number-1"/>
          <p:cNvSpPr txBox="1"/>
          <p:nvPr/>
        </p:nvSpPr>
        <p:spPr>
          <a:xfrm>
            <a:off x="742950" y="1898237"/>
            <a:ext cx="619125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76" name="feature-text-1"/>
          <p:cNvSpPr txBox="1"/>
          <p:nvPr/>
        </p:nvSpPr>
        <p:spPr>
          <a:xfrm>
            <a:off x="1485900" y="1855114"/>
            <a:ext cx="9696450" cy="34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Markdown, text, and PDF reader extension</a:t>
            </a:r>
          </a:p>
        </p:txBody>
      </p:sp>
      <p:sp>
        <p:nvSpPr>
          <p:cNvPr id="177" name="feature-rule-1"/>
          <p:cNvSpPr/>
          <p:nvPr/>
        </p:nvSpPr>
        <p:spPr>
          <a:xfrm>
            <a:off x="1485900" y="2351087"/>
            <a:ext cx="91440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178" name="feature-number-2"/>
          <p:cNvSpPr txBox="1"/>
          <p:nvPr/>
        </p:nvSpPr>
        <p:spPr>
          <a:xfrm>
            <a:off x="742950" y="2679287"/>
            <a:ext cx="619125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9" name="feature-text-2"/>
          <p:cNvSpPr txBox="1"/>
          <p:nvPr/>
        </p:nvSpPr>
        <p:spPr>
          <a:xfrm>
            <a:off x="1485900" y="2636164"/>
            <a:ext cx="9696450" cy="34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Section-based chunking</a:t>
            </a:r>
          </a:p>
        </p:txBody>
      </p:sp>
      <p:sp>
        <p:nvSpPr>
          <p:cNvPr id="180" name="feature-rule-2"/>
          <p:cNvSpPr/>
          <p:nvPr/>
        </p:nvSpPr>
        <p:spPr>
          <a:xfrm>
            <a:off x="1485900" y="3132137"/>
            <a:ext cx="91440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181" name="feature-number-3"/>
          <p:cNvSpPr txBox="1"/>
          <p:nvPr/>
        </p:nvSpPr>
        <p:spPr>
          <a:xfrm>
            <a:off x="742950" y="3460337"/>
            <a:ext cx="619125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2" name="feature-text-3"/>
          <p:cNvSpPr txBox="1"/>
          <p:nvPr/>
        </p:nvSpPr>
        <p:spPr>
          <a:xfrm>
            <a:off x="1485900" y="3417214"/>
            <a:ext cx="9696450" cy="34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Multiple files in one knowledge base</a:t>
            </a:r>
          </a:p>
        </p:txBody>
      </p:sp>
      <p:sp>
        <p:nvSpPr>
          <p:cNvPr id="183" name="feature-rule-3"/>
          <p:cNvSpPr/>
          <p:nvPr/>
        </p:nvSpPr>
        <p:spPr>
          <a:xfrm>
            <a:off x="1485900" y="3913187"/>
            <a:ext cx="91440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184" name="feature-number-4"/>
          <p:cNvSpPr txBox="1"/>
          <p:nvPr/>
        </p:nvSpPr>
        <p:spPr>
          <a:xfrm>
            <a:off x="742950" y="4241387"/>
            <a:ext cx="619125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85" name="feature-text-4"/>
          <p:cNvSpPr txBox="1"/>
          <p:nvPr/>
        </p:nvSpPr>
        <p:spPr>
          <a:xfrm>
            <a:off x="1485900" y="4198264"/>
            <a:ext cx="9696450" cy="34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Every citation includes the file name</a:t>
            </a:r>
          </a:p>
        </p:txBody>
      </p:sp>
      <p:sp>
        <p:nvSpPr>
          <p:cNvPr id="186" name="feature-rule-4"/>
          <p:cNvSpPr/>
          <p:nvPr/>
        </p:nvSpPr>
        <p:spPr>
          <a:xfrm>
            <a:off x="1485900" y="4694237"/>
            <a:ext cx="91440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187" name="feature-number-5"/>
          <p:cNvSpPr txBox="1"/>
          <p:nvPr/>
        </p:nvSpPr>
        <p:spPr>
          <a:xfrm>
            <a:off x="742950" y="5022437"/>
            <a:ext cx="619125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88" name="feature-text-5"/>
          <p:cNvSpPr txBox="1"/>
          <p:nvPr/>
        </p:nvSpPr>
        <p:spPr>
          <a:xfrm>
            <a:off x="1485900" y="4979314"/>
            <a:ext cx="9696450" cy="34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Refusal when the docs do not contain an answer</a:t>
            </a:r>
          </a:p>
        </p:txBody>
      </p:sp>
      <p:pic>
        <p:nvPicPr>
          <p:cNvPr id="189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eyebrow-8"/>
          <p:cNvSpPr txBox="1"/>
          <p:nvPr/>
        </p:nvSpPr>
        <p:spPr>
          <a:xfrm>
            <a:off x="685800" y="446043"/>
            <a:ext cx="4000500" cy="260439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08   /   HACKDAY SHOWCASE</a:t>
            </a:r>
          </a:p>
        </p:txBody>
      </p:sp>
      <p:sp>
        <p:nvSpPr>
          <p:cNvPr id="194" name="title-8"/>
          <p:cNvSpPr txBox="1"/>
          <p:nvPr/>
        </p:nvSpPr>
        <p:spPr>
          <a:xfrm>
            <a:off x="685800" y="880676"/>
            <a:ext cx="10820400" cy="61989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Refusal test</a:t>
            </a:r>
          </a:p>
        </p:txBody>
      </p:sp>
      <p:sp>
        <p:nvSpPr>
          <p:cNvPr id="195" name="footer-rule-8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6" name="footer-event-8"/>
          <p:cNvSpPr txBox="1"/>
          <p:nvPr/>
        </p:nvSpPr>
        <p:spPr>
          <a:xfrm>
            <a:off x="685800" y="6473044"/>
            <a:ext cx="61912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197" name="footer-number-8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08 / 10</a:t>
            </a:r>
          </a:p>
        </p:txBody>
      </p:sp>
      <p:sp>
        <p:nvSpPr>
          <p:cNvPr id="198" name="refusal-prompt-label"/>
          <p:cNvSpPr txBox="1"/>
          <p:nvPr/>
        </p:nvSpPr>
        <p:spPr>
          <a:xfrm>
            <a:off x="667853" y="2000390"/>
            <a:ext cx="381000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OUT-OF-SCOPE QUESTION</a:t>
            </a:r>
          </a:p>
        </p:txBody>
      </p:sp>
      <p:sp>
        <p:nvSpPr>
          <p:cNvPr id="199" name="refusal-question"/>
          <p:cNvSpPr txBox="1"/>
          <p:nvPr/>
        </p:nvSpPr>
        <p:spPr>
          <a:xfrm>
            <a:off x="637034" y="2847416"/>
            <a:ext cx="4762501" cy="112937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700">
                <a:latin typeface="+mj-lt"/>
                <a:ea typeface="+mj-ea"/>
                <a:cs typeface="+mj-cs"/>
                <a:sym typeface="Helvetica Neue"/>
              </a:defRPr>
            </a:pPr>
            <a:r>
              <a:t>“Who won the</a:t>
            </a:r>
          </a:p>
          <a:p>
            <a:pPr>
              <a:defRPr b="1" sz="3700">
                <a:latin typeface="+mj-lt"/>
                <a:ea typeface="+mj-ea"/>
                <a:cs typeface="+mj-cs"/>
                <a:sym typeface="Helvetica Neue"/>
              </a:defRPr>
            </a:pPr>
            <a:r>
              <a:t>2022 World Cup?”</a:t>
            </a:r>
          </a:p>
        </p:txBody>
      </p:sp>
      <p:sp>
        <p:nvSpPr>
          <p:cNvPr id="200" name="refusal-divider"/>
          <p:cNvSpPr/>
          <p:nvPr/>
        </p:nvSpPr>
        <p:spPr>
          <a:xfrm>
            <a:off x="6086475" y="2094396"/>
            <a:ext cx="19051" cy="2857501"/>
          </a:xfrm>
          <a:prstGeom prst="rect">
            <a:avLst/>
          </a:prstGeom>
          <a:solidFill>
            <a:srgbClr val="60400D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1" name="refusal-result-label"/>
          <p:cNvSpPr txBox="1"/>
          <p:nvPr/>
        </p:nvSpPr>
        <p:spPr>
          <a:xfrm>
            <a:off x="6638925" y="2000390"/>
            <a:ext cx="400050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EXPECTED REFUSAL</a:t>
            </a:r>
          </a:p>
        </p:txBody>
      </p:sp>
      <p:sp>
        <p:nvSpPr>
          <p:cNvPr id="202" name="refusal-result"/>
          <p:cNvSpPr txBox="1"/>
          <p:nvPr/>
        </p:nvSpPr>
        <p:spPr>
          <a:xfrm>
            <a:off x="6629400" y="2533650"/>
            <a:ext cx="4286250" cy="128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“I can’t find that answer in the First Contributions docs.”</a:t>
            </a:r>
          </a:p>
        </p:txBody>
      </p:sp>
      <p:sp>
        <p:nvSpPr>
          <p:cNvPr id="203" name="refusal-footnote"/>
          <p:cNvSpPr txBox="1"/>
          <p:nvPr/>
        </p:nvSpPr>
        <p:spPr>
          <a:xfrm>
            <a:off x="6667500" y="4321040"/>
            <a:ext cx="4210051" cy="577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Example response. Replace with the app’s exact wording if it differs.</a:t>
            </a:r>
          </a:p>
        </p:txBody>
      </p:sp>
      <p:pic>
        <p:nvPicPr>
          <p:cNvPr id="204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E6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eyebrow-9"/>
          <p:cNvSpPr txBox="1"/>
          <p:nvPr/>
        </p:nvSpPr>
        <p:spPr>
          <a:xfrm>
            <a:off x="685800" y="464725"/>
            <a:ext cx="4000500" cy="22307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09   /   HACKDAY SHOWCASE</a:t>
            </a:r>
          </a:p>
        </p:txBody>
      </p:sp>
      <p:sp>
        <p:nvSpPr>
          <p:cNvPr id="209" name="title-9"/>
          <p:cNvSpPr txBox="1"/>
          <p:nvPr/>
        </p:nvSpPr>
        <p:spPr>
          <a:xfrm>
            <a:off x="685800" y="899358"/>
            <a:ext cx="10820400" cy="5825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9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Evaluation</a:t>
            </a:r>
          </a:p>
        </p:txBody>
      </p:sp>
      <p:sp>
        <p:nvSpPr>
          <p:cNvPr id="210" name="footer-rule-9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2B3E5D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1" name="footer-event-9"/>
          <p:cNvSpPr txBox="1"/>
          <p:nvPr/>
        </p:nvSpPr>
        <p:spPr>
          <a:xfrm>
            <a:off x="685800" y="6504057"/>
            <a:ext cx="61912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212" name="footer-number-9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B8C7D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09 / 10</a:t>
            </a:r>
          </a:p>
        </p:txBody>
      </p:sp>
      <p:sp>
        <p:nvSpPr>
          <p:cNvPr id="213" name="evaluation-set"/>
          <p:cNvSpPr txBox="1"/>
          <p:nvPr/>
        </p:nvSpPr>
        <p:spPr>
          <a:xfrm>
            <a:off x="742950" y="1892858"/>
            <a:ext cx="40005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15-question test set</a:t>
            </a:r>
          </a:p>
        </p:txBody>
      </p:sp>
      <p:sp>
        <p:nvSpPr>
          <p:cNvPr id="214" name="evaluation-score"/>
          <p:cNvSpPr txBox="1"/>
          <p:nvPr/>
        </p:nvSpPr>
        <p:spPr>
          <a:xfrm>
            <a:off x="742950" y="2505312"/>
            <a:ext cx="4000500" cy="81867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300">
                <a:solidFill>
                  <a:srgbClr val="9D6B16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12 / 15</a:t>
            </a:r>
          </a:p>
        </p:txBody>
      </p:sp>
      <p:sp>
        <p:nvSpPr>
          <p:cNvPr id="215" name="evaluation-correct"/>
          <p:cNvSpPr txBox="1"/>
          <p:nvPr/>
        </p:nvSpPr>
        <p:spPr>
          <a:xfrm>
            <a:off x="781050" y="3445789"/>
            <a:ext cx="3905250" cy="347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correct = 80%</a:t>
            </a:r>
          </a:p>
        </p:txBody>
      </p:sp>
      <p:sp>
        <p:nvSpPr>
          <p:cNvPr id="216" name="evaluation-divider"/>
          <p:cNvSpPr/>
          <p:nvPr/>
        </p:nvSpPr>
        <p:spPr>
          <a:xfrm>
            <a:off x="5505450" y="2000250"/>
            <a:ext cx="19050" cy="2857500"/>
          </a:xfrm>
          <a:prstGeom prst="rect">
            <a:avLst/>
          </a:prstGeom>
          <a:solidFill>
            <a:srgbClr val="2B3E5D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7" name="evaluation-failure-label"/>
          <p:cNvSpPr txBox="1"/>
          <p:nvPr/>
        </p:nvSpPr>
        <p:spPr>
          <a:xfrm>
            <a:off x="6057900" y="1974806"/>
            <a:ext cx="438150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MAIN FAILURE CASES</a:t>
            </a:r>
          </a:p>
        </p:txBody>
      </p:sp>
      <p:sp>
        <p:nvSpPr>
          <p:cNvPr id="218" name="evaluation-failure-1-number"/>
          <p:cNvSpPr txBox="1"/>
          <p:nvPr/>
        </p:nvSpPr>
        <p:spPr>
          <a:xfrm>
            <a:off x="6076950" y="2682094"/>
            <a:ext cx="45720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19" name="evaluation-failure-1"/>
          <p:cNvSpPr txBox="1"/>
          <p:nvPr/>
        </p:nvSpPr>
        <p:spPr>
          <a:xfrm>
            <a:off x="6629400" y="2654858"/>
            <a:ext cx="41910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[Describe failure case 1]</a:t>
            </a:r>
          </a:p>
        </p:txBody>
      </p:sp>
      <p:sp>
        <p:nvSpPr>
          <p:cNvPr id="220" name="evaluation-rule"/>
          <p:cNvSpPr/>
          <p:nvPr/>
        </p:nvSpPr>
        <p:spPr>
          <a:xfrm>
            <a:off x="6629400" y="3141662"/>
            <a:ext cx="4133850" cy="12701"/>
          </a:xfrm>
          <a:prstGeom prst="rect">
            <a:avLst/>
          </a:prstGeom>
          <a:solidFill>
            <a:srgbClr val="2B3E5D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1" name="evaluation-failure-2-number"/>
          <p:cNvSpPr txBox="1"/>
          <p:nvPr/>
        </p:nvSpPr>
        <p:spPr>
          <a:xfrm>
            <a:off x="6076950" y="3539344"/>
            <a:ext cx="45720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22" name="evaluation-failure-2"/>
          <p:cNvSpPr txBox="1"/>
          <p:nvPr/>
        </p:nvSpPr>
        <p:spPr>
          <a:xfrm>
            <a:off x="6629400" y="3512108"/>
            <a:ext cx="4191000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[Describe failure case 2]</a:t>
            </a:r>
          </a:p>
        </p:txBody>
      </p:sp>
      <p:pic>
        <p:nvPicPr>
          <p:cNvPr id="223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eyebrow-10"/>
          <p:cNvSpPr txBox="1"/>
          <p:nvPr/>
        </p:nvSpPr>
        <p:spPr>
          <a:xfrm>
            <a:off x="685800" y="501904"/>
            <a:ext cx="4000500" cy="14871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10   /   HACKDAY SHOWCASE</a:t>
            </a:r>
          </a:p>
        </p:txBody>
      </p:sp>
      <p:sp>
        <p:nvSpPr>
          <p:cNvPr id="228" name="title-10"/>
          <p:cNvSpPr txBox="1"/>
          <p:nvPr/>
        </p:nvSpPr>
        <p:spPr>
          <a:xfrm>
            <a:off x="685800" y="936537"/>
            <a:ext cx="10820400" cy="50817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02344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Conclusion and next steps</a:t>
            </a:r>
          </a:p>
        </p:txBody>
      </p:sp>
      <p:sp>
        <p:nvSpPr>
          <p:cNvPr id="229" name="footer-rule-10"/>
          <p:cNvSpPr/>
          <p:nvPr/>
        </p:nvSpPr>
        <p:spPr>
          <a:xfrm>
            <a:off x="685800" y="6342062"/>
            <a:ext cx="108204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230" name="footer-event-10"/>
          <p:cNvSpPr txBox="1"/>
          <p:nvPr/>
        </p:nvSpPr>
        <p:spPr>
          <a:xfrm>
            <a:off x="685800" y="6504057"/>
            <a:ext cx="61912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HACKTOBERFEST HACKDAY  /  THEME 2B</a:t>
            </a:r>
          </a:p>
        </p:txBody>
      </p:sp>
      <p:sp>
        <p:nvSpPr>
          <p:cNvPr id="231" name="footer-number-10"/>
          <p:cNvSpPr txBox="1"/>
          <p:nvPr/>
        </p:nvSpPr>
        <p:spPr>
          <a:xfrm>
            <a:off x="10382250" y="6504057"/>
            <a:ext cx="1123950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5F7087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10 / 10</a:t>
            </a:r>
          </a:p>
        </p:txBody>
      </p:sp>
      <p:sp>
        <p:nvSpPr>
          <p:cNvPr id="232" name="conclusion-lead"/>
          <p:cNvSpPr txBox="1"/>
          <p:nvPr/>
        </p:nvSpPr>
        <p:spPr>
          <a:xfrm>
            <a:off x="723900" y="1864786"/>
            <a:ext cx="10001250" cy="34712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Make the first step into open source easier to find.</a:t>
            </a:r>
          </a:p>
        </p:txBody>
      </p:sp>
      <p:sp>
        <p:nvSpPr>
          <p:cNvPr id="233" name="next-index-1"/>
          <p:cNvSpPr txBox="1"/>
          <p:nvPr/>
        </p:nvSpPr>
        <p:spPr>
          <a:xfrm>
            <a:off x="742950" y="2841212"/>
            <a:ext cx="5715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34" name="next-item-1"/>
          <p:cNvSpPr txBox="1"/>
          <p:nvPr/>
        </p:nvSpPr>
        <p:spPr>
          <a:xfrm>
            <a:off x="1485900" y="2835300"/>
            <a:ext cx="9525000" cy="27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Add re-ranking for stronger passage selection</a:t>
            </a:r>
          </a:p>
        </p:txBody>
      </p:sp>
      <p:sp>
        <p:nvSpPr>
          <p:cNvPr id="235" name="next-rule-1"/>
          <p:cNvSpPr/>
          <p:nvPr/>
        </p:nvSpPr>
        <p:spPr>
          <a:xfrm>
            <a:off x="1485900" y="3322637"/>
            <a:ext cx="91440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236" name="next-index-2"/>
          <p:cNvSpPr txBox="1"/>
          <p:nvPr/>
        </p:nvSpPr>
        <p:spPr>
          <a:xfrm>
            <a:off x="742950" y="3717512"/>
            <a:ext cx="5715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7" name="next-item-2"/>
          <p:cNvSpPr txBox="1"/>
          <p:nvPr/>
        </p:nvSpPr>
        <p:spPr>
          <a:xfrm>
            <a:off x="1485900" y="3711600"/>
            <a:ext cx="9525000" cy="27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Keep context across follow-up questions</a:t>
            </a:r>
          </a:p>
        </p:txBody>
      </p:sp>
      <p:sp>
        <p:nvSpPr>
          <p:cNvPr id="238" name="next-rule-2"/>
          <p:cNvSpPr/>
          <p:nvPr/>
        </p:nvSpPr>
        <p:spPr>
          <a:xfrm>
            <a:off x="1485900" y="4198937"/>
            <a:ext cx="9144000" cy="127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303E1C"/>
                </a:solidFill>
              </a:defRPr>
            </a:pPr>
          </a:p>
        </p:txBody>
      </p:sp>
      <p:sp>
        <p:nvSpPr>
          <p:cNvPr id="239" name="next-index-3"/>
          <p:cNvSpPr txBox="1"/>
          <p:nvPr/>
        </p:nvSpPr>
        <p:spPr>
          <a:xfrm>
            <a:off x="742950" y="4593812"/>
            <a:ext cx="5715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303E1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40" name="next-item-3"/>
          <p:cNvSpPr txBox="1"/>
          <p:nvPr/>
        </p:nvSpPr>
        <p:spPr>
          <a:xfrm>
            <a:off x="1485900" y="4587900"/>
            <a:ext cx="9525000" cy="27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2233D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Create a “Where do I start?” onboarding checklist</a:t>
            </a:r>
          </a:p>
        </p:txBody>
      </p:sp>
      <p:pic>
        <p:nvPicPr>
          <p:cNvPr id="241" name="og-image.png" descr="og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7467" y="244542"/>
            <a:ext cx="2113516" cy="1109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